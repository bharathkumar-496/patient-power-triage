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1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ory" id="{274b49b2-df2f-1608-523c-80432a774019}">
          <p14:sldIdLst>
            <p14:sldId id="256"/>
            <p14:sldId id="257"/>
            <p14:sldId id="258"/>
            <p14:sldId id="259"/>
            <p14:sldId id="260"/>
          </p14:sldIdLst>
        </p14:section>
        <p14:section name="Every part explained" id="{a07d4ee7-2638-bc2e-8a5d-f34939e163fe}">
          <p14:sldIdLst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</p14:sldIdLst>
        </p14:section>
        <p14:section name="Results" id="{81952bf7-8b07-d76d-47e9-927a50424b87}">
          <p14:sldIdLst>
            <p14:sldId id="272"/>
            <p14:sldId id="273"/>
          </p14:sldIdLst>
        </p14:section>
        <p14:section name="Demo and questions" id="{faa3459a-0255-d4ef-649b-00cff85f2887}">
          <p14:sldIdLst>
            <p14:sldId id="274"/>
            <p14:sldId id="275"/>
            <p14:sldId id="276"/>
            <p14:sldId id="27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0F3D3E"/>
                </a:solidFill>
                <a:latin typeface="+mn-lt"/>
              </a:defRPr>
            </a:pPr>
            <a:r>
              <a:rPr sz="1500" b="0" i="0" u="none" strike="noStrike">
                <a:solidFill>
                  <a:srgbClr val="0F3D3E"/>
                </a:solidFill>
                <a:latin typeface="+mn-lt"/>
              </a:rPr>
              <a:t>% reduction vs today's fixed list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Reduction vs fixed list (%)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1182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Life-support patient-minutes without power</c:v>
                  </c:pt>
                  <c:pt idx="1">
                    <c:v>Life-support patients cut off at start</c:v>
                  </c:pt>
                  <c:pt idx="2">
                    <c:v>Stranded upstairs with no lift</c:v>
                  </c:pt>
                  <c:pt idx="3">
                    <c:v>Generator power wasted on empty rooms</c:v>
                  </c:pt>
                  <c:pt idx="4">
                    <c:v>Full-blackout minutes</c:v>
                  </c:pt>
                  <c:pt idx="5">
                    <c:v>Diesel burn per hour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42</c:v>
                </c:pt>
                <c:pt idx="1">
                  <c:v>81</c:v>
                </c:pt>
                <c:pt idx="2">
                  <c:v>79</c:v>
                </c:pt>
                <c:pt idx="3">
                  <c:v>76</c:v>
                </c:pt>
                <c:pt idx="4">
                  <c:v>27</c:v>
                </c:pt>
                <c:pt idx="5">
                  <c:v>10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400" u="none">
                  <a:solidFill>
                    <a:srgbClr val="11182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1182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one-line idea. When the hospital runs on a generator that is too small, our software decides where the limited power and diesel should go, patient by patient.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version everyone on the team must be able to say without notes. Power is like sweets: there are not enough for everyone, so the children who need them most get them first, and nobody wastes sweets on an empty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40-70% is the range used in our simulation, not a national statistic. The 18% and 34 of 52 come from our simulated hospital. Present Tijuana and Sudan only as reported, disputed cases.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numbers from sim/results.csv, seeds 1000-1049. These are simulation results with fake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 When the generator is too small, we send power and diesel to the patients who need it most. 2 circuits, rooms, patients, surgeries, generator. 3 Without power the patient cannot breathe. 4 The biggest load that still lets the diesel last until the tanker arrives. 5 See the planner rules slide. 6 It switches off by department order and doesn't know where patients are. 7 Life support or lifts not wired to the generator, overloads, weak batteries, fuel shortage, missing data. 8 -42% life-support patient-minutes without power, power wasted on empty rooms 18% to 4%, -10% diesel per hour.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33756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ARK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94560"/>
            <a:ext cx="1069848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7472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Patient-to-Power Triage · ENERGY SIMTECH'26 · Track 3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17-1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371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Patient-to-Power Triage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33756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Every litre of diesel should reach the patient who can't wait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ENERGY SIMTECH'26 · Track 3: Open Innovation</a:t>
            </a:r>
            <a:endParaRPr lang="en-US" sz="2200" dirty="0"/>
          </a:p>
        </p:txBody>
      </p:sp>
      <p:pic>
        <p:nvPicPr>
          <p:cNvPr id="4" name="Image 0" descr="Lightning bol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822960"/>
            <a:ext cx="82296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The whole project, told to a 5-year-old</a:t>
            </a:r>
            <a:endParaRPr lang="en-US" sz="3400" dirty="0"/>
          </a:p>
        </p:txBody>
      </p:sp>
      <p:sp>
        <p:nvSpPr>
          <p:cNvPr id="3" name="Story card 1"/>
          <p:cNvSpPr/>
          <p:nvPr/>
        </p:nvSpPr>
        <p:spPr>
          <a:xfrm>
            <a:off x="548640" y="1417320"/>
            <a:ext cx="2606040" cy="324612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tory 1 circle"/>
          <p:cNvSpPr/>
          <p:nvPr/>
        </p:nvSpPr>
        <p:spPr>
          <a:xfrm>
            <a:off x="822960" y="1691640"/>
            <a:ext cx="822960" cy="8229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5" name="Story 1 icon" descr="Story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470" y="1889150"/>
            <a:ext cx="427939" cy="42793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65176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1. The big light goes out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33756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At night the hospital's electricity from the city stops.</a:t>
            </a:r>
            <a:endParaRPr lang="en-US" sz="1500" dirty="0"/>
          </a:p>
        </p:txBody>
      </p:sp>
      <p:sp>
        <p:nvSpPr>
          <p:cNvPr id="8" name="Story card 2"/>
          <p:cNvSpPr/>
          <p:nvPr/>
        </p:nvSpPr>
        <p:spPr>
          <a:xfrm>
            <a:off x="3383280" y="1417320"/>
            <a:ext cx="2606040" cy="324612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tory 2 circle"/>
          <p:cNvSpPr/>
          <p:nvPr/>
        </p:nvSpPr>
        <p:spPr>
          <a:xfrm>
            <a:off x="3657600" y="1691640"/>
            <a:ext cx="822960" cy="8229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10" name="Story 2 icon" descr="Story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5110" y="1889150"/>
            <a:ext cx="427939" cy="427939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657600" y="265176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2. A small helper wakes up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3657600" y="333756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 diesel generator starts, but it can only power about half the rooms, and its fuel runs out.</a:t>
            </a:r>
            <a:endParaRPr lang="en-US" sz="1500" dirty="0"/>
          </a:p>
        </p:txBody>
      </p:sp>
      <p:sp>
        <p:nvSpPr>
          <p:cNvPr id="13" name="Story card 3"/>
          <p:cNvSpPr/>
          <p:nvPr/>
        </p:nvSpPr>
        <p:spPr>
          <a:xfrm>
            <a:off x="6217920" y="1417320"/>
            <a:ext cx="2606040" cy="324612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tory 3 circle"/>
          <p:cNvSpPr/>
          <p:nvPr/>
        </p:nvSpPr>
        <p:spPr>
          <a:xfrm>
            <a:off x="6492240" y="1691640"/>
            <a:ext cx="822960" cy="82296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15" name="Story 3 icon" descr="Story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9750" y="1889150"/>
            <a:ext cx="427939" cy="427939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492240" y="265176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3. Some children can't wait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6492240" y="333756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Some patients need machines to breathe or stay warm. Others are only using a fan.</a:t>
            </a:r>
            <a:endParaRPr lang="en-US" sz="1500" dirty="0"/>
          </a:p>
        </p:txBody>
      </p:sp>
      <p:sp>
        <p:nvSpPr>
          <p:cNvPr id="18" name="Story card 4"/>
          <p:cNvSpPr/>
          <p:nvPr/>
        </p:nvSpPr>
        <p:spPr>
          <a:xfrm>
            <a:off x="9052560" y="1417320"/>
            <a:ext cx="2606040" cy="324612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tory 4 circle"/>
          <p:cNvSpPr/>
          <p:nvPr/>
        </p:nvSpPr>
        <p:spPr>
          <a:xfrm>
            <a:off x="9326880" y="1691640"/>
            <a:ext cx="822960" cy="8229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20" name="Story 4 icon" descr="Story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4390" y="1889150"/>
            <a:ext cx="427939" cy="427939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326880" y="265176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4. Our app is a smart helper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9326880" y="333756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It says: keep power where those patients are, move them to lit rooms, switch off empty rooms.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548640" y="48463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chemeClr val="accent1"/>
                </a:solidFill>
              </a:rPr>
              <a:t>So the diesel lasts longer, and the patients who need power most always get it.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The problem: too little backup power</a:t>
            </a:r>
            <a:endParaRPr lang="en-US" sz="3400" dirty="0"/>
          </a:p>
        </p:txBody>
      </p:sp>
      <p:sp>
        <p:nvSpPr>
          <p:cNvPr id="3" name="Stat 1"/>
          <p:cNvSpPr/>
          <p:nvPr/>
        </p:nvSpPr>
        <p:spPr>
          <a:xfrm>
            <a:off x="548640" y="1417320"/>
            <a:ext cx="347472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3"/>
                </a:solidFill>
              </a:rPr>
              <a:t>40–70%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65176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of normal demand is all the generator can carry in our tests</a:t>
            </a:r>
            <a:endParaRPr lang="en-US" sz="1500" dirty="0"/>
          </a:p>
        </p:txBody>
      </p:sp>
      <p:sp>
        <p:nvSpPr>
          <p:cNvPr id="6" name="Stat 2"/>
          <p:cNvSpPr/>
          <p:nvPr/>
        </p:nvSpPr>
        <p:spPr>
          <a:xfrm>
            <a:off x="4297680" y="1417320"/>
            <a:ext cx="347472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572000" y="160020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2"/>
                </a:solidFill>
              </a:rPr>
              <a:t>18%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4572000" y="265176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of generator power goes to empty rooms under today's fixed list</a:t>
            </a:r>
            <a:endParaRPr lang="en-US" sz="1500" dirty="0"/>
          </a:p>
        </p:txBody>
      </p:sp>
      <p:sp>
        <p:nvSpPr>
          <p:cNvPr id="9" name="Stat 3"/>
          <p:cNvSpPr/>
          <p:nvPr/>
        </p:nvSpPr>
        <p:spPr>
          <a:xfrm>
            <a:off x="8046720" y="1417320"/>
            <a:ext cx="347472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321040" y="160020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3"/>
                </a:solidFill>
              </a:rPr>
              <a:t>34 / 52</a:t>
            </a:r>
            <a:endParaRPr lang="en-US" sz="5400" dirty="0"/>
          </a:p>
        </p:txBody>
      </p:sp>
      <p:sp>
        <p:nvSpPr>
          <p:cNvPr id="11" name="Text 9"/>
          <p:cNvSpPr txBox="1"/>
          <p:nvPr/>
        </p:nvSpPr>
        <p:spPr>
          <a:xfrm>
            <a:off x="8321040" y="265176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life-support patients powered by today's list on our example night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069080"/>
            <a:ext cx="110642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Today staff switch off whole departments from a fixed list. The list doesn't know a ventilated patient is in a general ward because the ICU is full.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After Hurricane Katrina, about 215 patients died in New Orleans hospitals and nursing homes, partly because generators failed.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It is an energy problem: limited diesel and generator power sent to the wrong places.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Our solution: five tools in one app</a:t>
            </a:r>
            <a:endParaRPr lang="en-US" sz="3400" dirty="0"/>
          </a:p>
        </p:txBody>
      </p:sp>
      <p:sp>
        <p:nvSpPr>
          <p:cNvPr id="3" name="Feature 1"/>
          <p:cNvSpPr/>
          <p:nvPr/>
        </p:nvSpPr>
        <p:spPr>
          <a:xfrm>
            <a:off x="548640" y="1463040"/>
            <a:ext cx="2066544" cy="3566160"/>
          </a:xfrm>
          <a:prstGeom prst="roundRect">
            <a:avLst>
              <a:gd name="adj" fmla="val 53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Power plan circle"/>
          <p:cNvSpPr/>
          <p:nvPr/>
        </p:nvSpPr>
        <p:spPr>
          <a:xfrm>
            <a:off x="1170432" y="1691640"/>
            <a:ext cx="822960" cy="8229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5" name="Power plan icon" descr="Power pla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7942" y="1889150"/>
            <a:ext cx="427939" cy="42793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2697480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Power plan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3200400"/>
            <a:ext cx="170078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Which circuits to keep, which to cut, which surgeries to delay</a:t>
            </a:r>
            <a:endParaRPr lang="en-US" sz="1400" dirty="0"/>
          </a:p>
        </p:txBody>
      </p:sp>
      <p:sp>
        <p:nvSpPr>
          <p:cNvPr id="8" name="Feature 2"/>
          <p:cNvSpPr/>
          <p:nvPr/>
        </p:nvSpPr>
        <p:spPr>
          <a:xfrm>
            <a:off x="2798064" y="1463040"/>
            <a:ext cx="2066544" cy="3566160"/>
          </a:xfrm>
          <a:prstGeom prst="roundRect">
            <a:avLst>
              <a:gd name="adj" fmla="val 53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Move check circle"/>
          <p:cNvSpPr/>
          <p:nvPr/>
        </p:nvSpPr>
        <p:spPr>
          <a:xfrm>
            <a:off x="3419856" y="1691640"/>
            <a:ext cx="822960" cy="8229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10" name="Move check icon" descr="Move 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7366" y="1889150"/>
            <a:ext cx="427939" cy="427939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980944" y="2697480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Move check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2980944" y="3200400"/>
            <a:ext cx="170078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Moves patients to powered rooms, and only if a powered lift can carry them</a:t>
            </a:r>
            <a:endParaRPr lang="en-US" sz="1400" dirty="0"/>
          </a:p>
        </p:txBody>
      </p:sp>
      <p:sp>
        <p:nvSpPr>
          <p:cNvPr id="13" name="Feature 3"/>
          <p:cNvSpPr/>
          <p:nvPr/>
        </p:nvSpPr>
        <p:spPr>
          <a:xfrm>
            <a:off x="5047488" y="1463040"/>
            <a:ext cx="2066544" cy="3566160"/>
          </a:xfrm>
          <a:prstGeom prst="roundRect">
            <a:avLst>
              <a:gd name="adj" fmla="val 53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Danger clock circle"/>
          <p:cNvSpPr/>
          <p:nvPr/>
        </p:nvSpPr>
        <p:spPr>
          <a:xfrm>
            <a:off x="5669280" y="1691640"/>
            <a:ext cx="822960" cy="8229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15" name="Danger clock icon" descr="Danger clo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6790" y="1889150"/>
            <a:ext cx="427939" cy="427939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230368" y="2697480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Danger clock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5230368" y="3200400"/>
            <a:ext cx="170078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Who loses power first, in minutes</a:t>
            </a:r>
            <a:endParaRPr lang="en-US" sz="1400" dirty="0"/>
          </a:p>
        </p:txBody>
      </p:sp>
      <p:sp>
        <p:nvSpPr>
          <p:cNvPr id="18" name="Feature 4"/>
          <p:cNvSpPr/>
          <p:nvPr/>
        </p:nvSpPr>
        <p:spPr>
          <a:xfrm>
            <a:off x="7296912" y="1463040"/>
            <a:ext cx="2066544" cy="3566160"/>
          </a:xfrm>
          <a:prstGeom prst="roundRect">
            <a:avLst>
              <a:gd name="adj" fmla="val 53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What-if test circle"/>
          <p:cNvSpPr/>
          <p:nvPr/>
        </p:nvSpPr>
        <p:spPr>
          <a:xfrm>
            <a:off x="7918704" y="1691640"/>
            <a:ext cx="822960" cy="8229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20" name="What-if test icon" descr="What-if tes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6214" y="1889150"/>
            <a:ext cx="427939" cy="427939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479792" y="2697480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What-if test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7479792" y="3200400"/>
            <a:ext cx="170078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Re-plans if a generator fails, fuel is lost or the tanker is late</a:t>
            </a:r>
            <a:endParaRPr lang="en-US" sz="1400" dirty="0"/>
          </a:p>
        </p:txBody>
      </p:sp>
      <p:sp>
        <p:nvSpPr>
          <p:cNvPr id="23" name="Feature 5"/>
          <p:cNvSpPr/>
          <p:nvPr/>
        </p:nvSpPr>
        <p:spPr>
          <a:xfrm>
            <a:off x="9546336" y="1463040"/>
            <a:ext cx="2066544" cy="3566160"/>
          </a:xfrm>
          <a:prstGeom prst="roundRect">
            <a:avLst>
              <a:gd name="adj" fmla="val 53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Pre-outage check circle"/>
          <p:cNvSpPr/>
          <p:nvPr/>
        </p:nvSpPr>
        <p:spPr>
          <a:xfrm>
            <a:off x="10168128" y="1691640"/>
            <a:ext cx="822960" cy="8229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25" name="Pre-outage check icon" descr="Pre-outage chec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5638" y="1889150"/>
            <a:ext cx="427939" cy="427939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9729216" y="2697480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Pre-outage check</a:t>
            </a:r>
            <a:endParaRPr lang="en-US" sz="1800" dirty="0"/>
          </a:p>
        </p:txBody>
      </p:sp>
      <p:sp>
        <p:nvSpPr>
          <p:cNvPr id="27" name="Text 20"/>
          <p:cNvSpPr txBox="1"/>
          <p:nvPr/>
        </p:nvSpPr>
        <p:spPr>
          <a:xfrm>
            <a:off x="9729216" y="3200400"/>
            <a:ext cx="170078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Finds wards and lifts that are not really wired to the generator</a:t>
            </a:r>
            <a:endParaRPr lang="en-US" sz="1400" dirty="0"/>
          </a:p>
        </p:txBody>
      </p:sp>
      <p:sp>
        <p:nvSpPr>
          <p:cNvPr id="28" name="Text 21"/>
          <p:cNvSpPr txBox="1"/>
          <p:nvPr/>
        </p:nvSpPr>
        <p:spPr>
          <a:xfrm>
            <a:off x="548640" y="53035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chemeClr val="accent1"/>
                </a:solidFill>
              </a:rPr>
              <a:t>Advisor only: it suggests, staff decide. No new hardware. Works from an Excel sheet.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How it works, end to end</a:t>
            </a:r>
            <a:endParaRPr lang="en-US" sz="3400" dirty="0"/>
          </a:p>
        </p:txBody>
      </p:sp>
      <p:sp>
        <p:nvSpPr>
          <p:cNvPr id="3" name="Step 1"/>
          <p:cNvSpPr/>
          <p:nvPr/>
        </p:nvSpPr>
        <p:spPr>
          <a:xfrm>
            <a:off x="548640" y="1554480"/>
            <a:ext cx="1920240" cy="22860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Hospital data circle"/>
          <p:cNvSpPr/>
          <p:nvPr/>
        </p:nvSpPr>
        <p:spPr>
          <a:xfrm>
            <a:off x="1097280" y="1737360"/>
            <a:ext cx="822960" cy="8229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5" name="Hospital data icon" descr="Hospital dat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4790" y="1934870"/>
            <a:ext cx="427939" cy="42793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26517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Hospital data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0632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Excel or fake hospital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5 tables</a:t>
            </a:r>
            <a:endParaRPr lang="en-US" sz="1400" dirty="0"/>
          </a:p>
        </p:txBody>
      </p:sp>
      <p:sp>
        <p:nvSpPr>
          <p:cNvPr id="8" name="Arrow 1"/>
          <p:cNvSpPr/>
          <p:nvPr/>
        </p:nvSpPr>
        <p:spPr>
          <a:xfrm>
            <a:off x="2496312" y="2514600"/>
            <a:ext cx="310896" cy="365760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" name="Step 2"/>
          <p:cNvSpPr/>
          <p:nvPr/>
        </p:nvSpPr>
        <p:spPr>
          <a:xfrm>
            <a:off x="2834640" y="1554480"/>
            <a:ext cx="1920240" cy="22860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Rules circle"/>
          <p:cNvSpPr/>
          <p:nvPr/>
        </p:nvSpPr>
        <p:spPr>
          <a:xfrm>
            <a:off x="3383280" y="1737360"/>
            <a:ext cx="822960" cy="8229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11" name="Rules icon" descr="Rul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0790" y="1934870"/>
            <a:ext cx="427939" cy="427939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926080" y="26517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Rules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2926080" y="30632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rules.yaml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priority points</a:t>
            </a:r>
            <a:endParaRPr lang="en-US" sz="1400" dirty="0"/>
          </a:p>
        </p:txBody>
      </p:sp>
      <p:sp>
        <p:nvSpPr>
          <p:cNvPr id="14" name="Arrow 2"/>
          <p:cNvSpPr/>
          <p:nvPr/>
        </p:nvSpPr>
        <p:spPr>
          <a:xfrm>
            <a:off x="4782312" y="2514600"/>
            <a:ext cx="310896" cy="365760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5" name="Step 3"/>
          <p:cNvSpPr/>
          <p:nvPr/>
        </p:nvSpPr>
        <p:spPr>
          <a:xfrm>
            <a:off x="5120640" y="1554480"/>
            <a:ext cx="1920240" cy="2286000"/>
          </a:xfrm>
          <a:prstGeom prst="roundRect">
            <a:avLst>
              <a:gd name="adj" fmla="val 5714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Planner circle"/>
          <p:cNvSpPr/>
          <p:nvPr/>
        </p:nvSpPr>
        <p:spPr>
          <a:xfrm>
            <a:off x="5669280" y="1737360"/>
            <a:ext cx="822960" cy="822960"/>
          </a:xfrm>
          <a:prstGeom prst="ellipse">
            <a:avLst/>
          </a:prstGeom>
          <a:solidFill>
            <a:srgbClr val="0F3D3E"/>
          </a:solidFill>
          <a:ln w="12700">
            <a:solidFill>
              <a:srgbClr val="0F3D3E"/>
            </a:solidFill>
            <a:prstDash val="solid"/>
          </a:ln>
        </p:spPr>
      </p:sp>
      <p:pic>
        <p:nvPicPr>
          <p:cNvPr id="17" name="Planner icon" descr="Plann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6790" y="1934870"/>
            <a:ext cx="427939" cy="427939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212080" y="26517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Planner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5212080" y="30632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OR-Tools optimiser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plan_optimal()</a:t>
            </a:r>
            <a:endParaRPr lang="en-US" sz="1400" dirty="0"/>
          </a:p>
        </p:txBody>
      </p:sp>
      <p:sp>
        <p:nvSpPr>
          <p:cNvPr id="20" name="Arrow 3"/>
          <p:cNvSpPr/>
          <p:nvPr/>
        </p:nvSpPr>
        <p:spPr>
          <a:xfrm>
            <a:off x="7068312" y="2514600"/>
            <a:ext cx="310896" cy="365760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1" name="Step 4"/>
          <p:cNvSpPr/>
          <p:nvPr/>
        </p:nvSpPr>
        <p:spPr>
          <a:xfrm>
            <a:off x="7406640" y="1554480"/>
            <a:ext cx="1920240" cy="22860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Plan circle"/>
          <p:cNvSpPr/>
          <p:nvPr/>
        </p:nvSpPr>
        <p:spPr>
          <a:xfrm>
            <a:off x="7955280" y="1737360"/>
            <a:ext cx="822960" cy="8229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23" name="Plan icon" descr="Pla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2790" y="1934870"/>
            <a:ext cx="427939" cy="427939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498080" y="26517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Plan</a:t>
            </a:r>
            <a:endParaRPr lang="en-US" sz="1800" dirty="0"/>
          </a:p>
        </p:txBody>
      </p:sp>
      <p:sp>
        <p:nvSpPr>
          <p:cNvPr id="25" name="Text 19"/>
          <p:cNvSpPr txBox="1"/>
          <p:nvPr/>
        </p:nvSpPr>
        <p:spPr>
          <a:xfrm>
            <a:off x="7498080" y="30632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keep / cut / move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/ delay</a:t>
            </a:r>
            <a:endParaRPr lang="en-US" sz="1400" dirty="0"/>
          </a:p>
        </p:txBody>
      </p:sp>
      <p:sp>
        <p:nvSpPr>
          <p:cNvPr id="26" name="Arrow 4"/>
          <p:cNvSpPr/>
          <p:nvPr/>
        </p:nvSpPr>
        <p:spPr>
          <a:xfrm>
            <a:off x="9354312" y="2514600"/>
            <a:ext cx="310896" cy="365760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7" name="Step 5"/>
          <p:cNvSpPr/>
          <p:nvPr/>
        </p:nvSpPr>
        <p:spPr>
          <a:xfrm>
            <a:off x="9692640" y="1554480"/>
            <a:ext cx="1920240" cy="22860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Screens circle"/>
          <p:cNvSpPr/>
          <p:nvPr/>
        </p:nvSpPr>
        <p:spPr>
          <a:xfrm>
            <a:off x="10241280" y="1737360"/>
            <a:ext cx="822960" cy="8229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29" name="Screens icon" descr="Screen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38790" y="1934870"/>
            <a:ext cx="427939" cy="427939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9784080" y="26517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Screens</a:t>
            </a:r>
            <a:endParaRPr lang="en-US" sz="1800" dirty="0"/>
          </a:p>
        </p:txBody>
      </p:sp>
      <p:sp>
        <p:nvSpPr>
          <p:cNvPr id="31" name="Text 24"/>
          <p:cNvSpPr txBox="1"/>
          <p:nvPr/>
        </p:nvSpPr>
        <p:spPr>
          <a:xfrm>
            <a:off x="9784080" y="30632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dashboard, map,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clock, evidence</a:t>
            </a:r>
            <a:endParaRPr lang="en-US" sz="1400" dirty="0"/>
          </a:p>
        </p:txBody>
      </p:sp>
      <p:sp>
        <p:nvSpPr>
          <p:cNvPr id="32" name="Baseline box"/>
          <p:cNvSpPr/>
          <p:nvPr/>
        </p:nvSpPr>
        <p:spPr>
          <a:xfrm>
            <a:off x="548640" y="4160520"/>
            <a:ext cx="1106424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3" name="Text 26"/>
          <p:cNvSpPr txBox="1"/>
          <p:nvPr/>
        </p:nvSpPr>
        <p:spPr>
          <a:xfrm>
            <a:off x="777240" y="429768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Side by side: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same data also goes to plan_baseline(), today's fixed list. The simulation runs both on 50 nights and compares them.</a:t>
            </a:r>
            <a:endParaRPr lang="en-US" sz="1600" dirty="0"/>
          </a:p>
        </p:txBody>
      </p:sp>
      <p:sp>
        <p:nvSpPr>
          <p:cNvPr id="34" name="Kid words box"/>
          <p:cNvSpPr/>
          <p:nvPr/>
        </p:nvSpPr>
        <p:spPr>
          <a:xfrm>
            <a:off x="548640" y="5532120"/>
            <a:ext cx="1106424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5" name="Kid words circle"/>
          <p:cNvSpPr/>
          <p:nvPr/>
        </p:nvSpPr>
        <p:spPr>
          <a:xfrm>
            <a:off x="685800" y="5605272"/>
            <a:ext cx="585216" cy="5852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36" name="Kid words icon" descr="Kid word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6252" y="5745724"/>
            <a:ext cx="304312" cy="304312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1417320" y="55778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In kid words: </a:t>
            </a:r>
            <a:pPr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We write down who is where, ask the smart helper, and show the answer as a coloured map.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9456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Every part, explained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7472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One slide per file. Each one has the functions inside it and a kid-words line.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Data: who is where, on which wire</a:t>
            </a:r>
            <a:endParaRPr lang="en-US" sz="3400" dirty="0"/>
          </a:p>
        </p:txBody>
      </p:sp>
      <p:graphicFrame>
        <p:nvGraphicFramePr>
          <p:cNvPr id="8" name="Data table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58521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438912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Table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What one row means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circuits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 power line: kW, breaker limit, on the generator or not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rooms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 room: floor, beds, which circuit feeds it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patients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 patient: room and devices (ventilator, monitor ...)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surgeries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 theatre: surgery running or waiting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generator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size, diesel, expected outage, tanker arrival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Functions box"/>
          <p:cNvSpPr/>
          <p:nvPr/>
        </p:nvSpPr>
        <p:spPr>
          <a:xfrm>
            <a:off x="6675120" y="1371600"/>
            <a:ext cx="4937760" cy="384048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6903720" y="1508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Functions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903720" y="1920240"/>
            <a:ext cx="4572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make_hospital()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builds the fake 200-bed government hospital (data/generate.py)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patient_needs()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turns devices into kW, points, battery, life support yes/no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from_excel() / to_excel_bytes()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read an uploaded workbook / write the template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load_rules(), device_list()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read rules.yaml; split "ventilator;monitor"</a:t>
            </a:r>
            <a:endParaRPr lang="en-US" sz="1400" dirty="0"/>
          </a:p>
        </p:txBody>
      </p:sp>
      <p:sp>
        <p:nvSpPr>
          <p:cNvPr id="7" name="Kid words box"/>
          <p:cNvSpPr/>
          <p:nvPr/>
        </p:nvSpPr>
        <p:spPr>
          <a:xfrm>
            <a:off x="548640" y="5532120"/>
            <a:ext cx="1106424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Kid words circle"/>
          <p:cNvSpPr/>
          <p:nvPr/>
        </p:nvSpPr>
        <p:spPr>
          <a:xfrm>
            <a:off x="685800" y="5605272"/>
            <a:ext cx="585216" cy="5852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9" name="Kid words icon" descr="Kid word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6252" y="5745724"/>
            <a:ext cx="304312" cy="30431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17320" y="55778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In kid words: </a:t>
            </a:r>
            <a:pPr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It is a big list: every child, which bed, which machine, and which wire gives that bed electricity.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rules.yaml: how many points each patient gets</a:t>
            </a:r>
            <a:endParaRPr lang="en-US" sz="3400" dirty="0"/>
          </a:p>
        </p:txBody>
      </p:sp>
      <p:graphicFrame>
        <p:nvGraphicFramePr>
          <p:cNvPr id="9" name="Device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67665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097280"/>
                <a:gridCol w="1188720"/>
                <a:gridCol w="1005840"/>
                <a:gridCol w="146304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Device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Power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Battery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Points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Life support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Ventilator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0.25 kW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30 min*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100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Incubator / warmer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0.60 kW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90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O₂ concentrator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0.35 kW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80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Inotrope pump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0.03 kW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120 min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70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Dialysis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1.50 kW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60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Suction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0.20 kW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40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Monitor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0.06 kW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60 min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Unknown device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0.30 kW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100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yes (safe)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Rules notes"/>
          <p:cNvSpPr/>
          <p:nvPr/>
        </p:nvSpPr>
        <p:spPr>
          <a:xfrm>
            <a:off x="7589520" y="1325880"/>
            <a:ext cx="4023360" cy="3657600"/>
          </a:xfrm>
          <a:prstGeom prst="roundRect">
            <a:avLst>
              <a:gd name="adj" fmla="val 3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7772400" y="1508760"/>
            <a:ext cx="3657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 patient's points = their most important device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Unknown device = treated as life support until a nurse confirms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Also sets: generator max 95%, 10% fuel reserve, move penalty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Example values. Doctors must approve them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029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* 30% of ventilators in the fake data have no working battery</a:t>
            </a:r>
            <a:endParaRPr lang="en-US" sz="1100" dirty="0"/>
          </a:p>
        </p:txBody>
      </p:sp>
      <p:sp>
        <p:nvSpPr>
          <p:cNvPr id="7" name="Kid words box"/>
          <p:cNvSpPr/>
          <p:nvPr/>
        </p:nvSpPr>
        <p:spPr>
          <a:xfrm>
            <a:off x="548640" y="5532120"/>
            <a:ext cx="1106424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Kid words circle"/>
          <p:cNvSpPr/>
          <p:nvPr/>
        </p:nvSpPr>
        <p:spPr>
          <a:xfrm>
            <a:off x="685800" y="5605272"/>
            <a:ext cx="585216" cy="5852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9" name="Kid words icon" descr="Kid word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6252" y="5745724"/>
            <a:ext cx="304312" cy="30431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17320" y="55778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In kid words: </a:t>
            </a:r>
            <a:pPr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Each machine gets stars. A breathing machine gets the most stars, so it gets power first.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fuel.py: how fast the diesel disappears</a:t>
            </a:r>
            <a:endParaRPr lang="en-US" sz="3400" dirty="0"/>
          </a:p>
        </p:txBody>
      </p:sp>
      <p:sp>
        <p:nvSpPr>
          <p:cNvPr id="3" name="Formula box"/>
          <p:cNvSpPr/>
          <p:nvPr/>
        </p:nvSpPr>
        <p:spPr>
          <a:xfrm>
            <a:off x="548640" y="1371600"/>
            <a:ext cx="11064240" cy="1188720"/>
          </a:xfrm>
          <a:prstGeom prst="roundRect">
            <a:avLst>
              <a:gd name="adj" fmla="val 923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31520" y="146304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Fuel (litres per hour) = 0.08145 × generator size kW  +  0.246 × load kW</a:t>
            </a:r>
            <a:endParaRPr lang="en-US" sz="2600" dirty="0"/>
          </a:p>
        </p:txBody>
      </p:sp>
      <p:sp>
        <p:nvSpPr>
          <p:cNvPr id="5" name="Fuel fn 1"/>
          <p:cNvSpPr/>
          <p:nvPr/>
        </p:nvSpPr>
        <p:spPr>
          <a:xfrm>
            <a:off x="548640" y="2834640"/>
            <a:ext cx="3474720" cy="2423160"/>
          </a:xfrm>
          <a:prstGeom prst="roundRect">
            <a:avLst>
              <a:gd name="adj" fmla="val 452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29718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burn_rate(load, rated)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5661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litres per hour at this load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43891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1"/>
                </a:solidFill>
              </a:rPr>
              <a:t>300 kW set at 250 kW → 85.9 L/h</a:t>
            </a:r>
            <a:endParaRPr lang="en-US" sz="1500" dirty="0"/>
          </a:p>
        </p:txBody>
      </p:sp>
      <p:sp>
        <p:nvSpPr>
          <p:cNvPr id="9" name="Fuel fn 2"/>
          <p:cNvSpPr/>
          <p:nvPr/>
        </p:nvSpPr>
        <p:spPr>
          <a:xfrm>
            <a:off x="4297680" y="2834640"/>
            <a:ext cx="3474720" cy="2423160"/>
          </a:xfrm>
          <a:prstGeom prst="roundRect">
            <a:avLst>
              <a:gd name="adj" fmla="val 452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526280" y="29718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runtime_h(fuel, load, rated)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526280" y="35661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hours until the tank is empty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43891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1"/>
                </a:solidFill>
              </a:rPr>
              <a:t>800 L ÷ 85.9 L/h → 9.3 h</a:t>
            </a:r>
            <a:endParaRPr lang="en-US" sz="1500" dirty="0"/>
          </a:p>
        </p:txBody>
      </p:sp>
      <p:sp>
        <p:nvSpPr>
          <p:cNvPr id="13" name="Fuel fn 3"/>
          <p:cNvSpPr/>
          <p:nvPr/>
        </p:nvSpPr>
        <p:spPr>
          <a:xfrm>
            <a:off x="8046720" y="2834640"/>
            <a:ext cx="3474720" cy="2423160"/>
          </a:xfrm>
          <a:prstGeom prst="roundRect">
            <a:avLst>
              <a:gd name="adj" fmla="val 452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275320" y="29718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fuel_safe_load(fuel, hours, rated)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275320" y="35661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biggest load that still lasts the hours needed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275320" y="43891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1"/>
                </a:solidFill>
              </a:rPr>
              <a:t>the planner's target load</a:t>
            </a:r>
            <a:endParaRPr lang="en-US" sz="1500" dirty="0"/>
          </a:p>
        </p:txBody>
      </p:sp>
      <p:sp>
        <p:nvSpPr>
          <p:cNvPr id="17" name="Kid words box"/>
          <p:cNvSpPr/>
          <p:nvPr/>
        </p:nvSpPr>
        <p:spPr>
          <a:xfrm>
            <a:off x="548640" y="5532120"/>
            <a:ext cx="1106424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Kid words circle"/>
          <p:cNvSpPr/>
          <p:nvPr/>
        </p:nvSpPr>
        <p:spPr>
          <a:xfrm>
            <a:off x="685800" y="5605272"/>
            <a:ext cx="585216" cy="5852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9" name="Kid words icon" descr="Kid word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6252" y="5745724"/>
            <a:ext cx="304312" cy="304312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1417320" y="55778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In kid words: </a:t>
            </a:r>
            <a:pPr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The engine drinks a little diesel just to stay awake, and more for every light it keeps on.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baseline.py: today's fixed list (what we beat)</a:t>
            </a:r>
            <a:endParaRPr lang="en-US" sz="3400" dirty="0"/>
          </a:p>
        </p:txBody>
      </p:sp>
      <p:sp>
        <p:nvSpPr>
          <p:cNvPr id="3" name="Order 1"/>
          <p:cNvSpPr/>
          <p:nvPr/>
        </p:nvSpPr>
        <p:spPr>
          <a:xfrm>
            <a:off x="548640" y="1371600"/>
            <a:ext cx="1691640" cy="530352"/>
          </a:xfrm>
          <a:prstGeom prst="roundRect">
            <a:avLst>
              <a:gd name="adj" fmla="val 1724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1. fire</a:t>
            </a:r>
            <a:endParaRPr lang="en-US" sz="1500" dirty="0"/>
          </a:p>
        </p:txBody>
      </p:sp>
      <p:sp>
        <p:nvSpPr>
          <p:cNvPr id="5" name="Order 2"/>
          <p:cNvSpPr/>
          <p:nvPr/>
        </p:nvSpPr>
        <p:spPr>
          <a:xfrm>
            <a:off x="2404872" y="1371600"/>
            <a:ext cx="1691640" cy="530352"/>
          </a:xfrm>
          <a:prstGeom prst="roundRect">
            <a:avLst>
              <a:gd name="adj" fmla="val 1724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404872" y="1371600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2. theatres</a:t>
            </a:r>
            <a:endParaRPr lang="en-US" sz="1500" dirty="0"/>
          </a:p>
        </p:txBody>
      </p:sp>
      <p:sp>
        <p:nvSpPr>
          <p:cNvPr id="7" name="Order 3"/>
          <p:cNvSpPr/>
          <p:nvPr/>
        </p:nvSpPr>
        <p:spPr>
          <a:xfrm>
            <a:off x="4261104" y="1371600"/>
            <a:ext cx="1691640" cy="530352"/>
          </a:xfrm>
          <a:prstGeom prst="roundRect">
            <a:avLst>
              <a:gd name="adj" fmla="val 1724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261104" y="1371600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3. ICU</a:t>
            </a:r>
            <a:endParaRPr lang="en-US" sz="1500" dirty="0"/>
          </a:p>
        </p:txBody>
      </p:sp>
      <p:sp>
        <p:nvSpPr>
          <p:cNvPr id="9" name="Order 4"/>
          <p:cNvSpPr/>
          <p:nvPr/>
        </p:nvSpPr>
        <p:spPr>
          <a:xfrm>
            <a:off x="6117336" y="1371600"/>
            <a:ext cx="1691640" cy="530352"/>
          </a:xfrm>
          <a:prstGeom prst="roundRect">
            <a:avLst>
              <a:gd name="adj" fmla="val 1724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117336" y="1371600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4. NICU</a:t>
            </a:r>
            <a:endParaRPr lang="en-US" sz="1500" dirty="0"/>
          </a:p>
        </p:txBody>
      </p:sp>
      <p:sp>
        <p:nvSpPr>
          <p:cNvPr id="11" name="Order 5"/>
          <p:cNvSpPr/>
          <p:nvPr/>
        </p:nvSpPr>
        <p:spPr>
          <a:xfrm>
            <a:off x="7973568" y="1371600"/>
            <a:ext cx="1691640" cy="530352"/>
          </a:xfrm>
          <a:prstGeom prst="roundRect">
            <a:avLst>
              <a:gd name="adj" fmla="val 1724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973568" y="1371600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5. ER</a:t>
            </a:r>
            <a:endParaRPr lang="en-US" sz="1500" dirty="0"/>
          </a:p>
        </p:txBody>
      </p:sp>
      <p:sp>
        <p:nvSpPr>
          <p:cNvPr id="13" name="Order 6"/>
          <p:cNvSpPr/>
          <p:nvPr/>
        </p:nvSpPr>
        <p:spPr>
          <a:xfrm>
            <a:off x="9829800" y="1371600"/>
            <a:ext cx="1691640" cy="530352"/>
          </a:xfrm>
          <a:prstGeom prst="roundRect">
            <a:avLst>
              <a:gd name="adj" fmla="val 1724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829800" y="1371600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6. oxygen</a:t>
            </a:r>
            <a:endParaRPr lang="en-US" sz="1500" dirty="0"/>
          </a:p>
        </p:txBody>
      </p:sp>
      <p:sp>
        <p:nvSpPr>
          <p:cNvPr id="15" name="Order 7"/>
          <p:cNvSpPr/>
          <p:nvPr/>
        </p:nvSpPr>
        <p:spPr>
          <a:xfrm>
            <a:off x="548640" y="2057400"/>
            <a:ext cx="1691640" cy="530352"/>
          </a:xfrm>
          <a:prstGeom prst="roundRect">
            <a:avLst>
              <a:gd name="adj" fmla="val 1724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2057400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7. dialysis</a:t>
            </a:r>
            <a:endParaRPr lang="en-US" sz="1500" dirty="0"/>
          </a:p>
        </p:txBody>
      </p:sp>
      <p:sp>
        <p:nvSpPr>
          <p:cNvPr id="17" name="Order 8"/>
          <p:cNvSpPr/>
          <p:nvPr/>
        </p:nvSpPr>
        <p:spPr>
          <a:xfrm>
            <a:off x="2404872" y="2057400"/>
            <a:ext cx="1691640" cy="530352"/>
          </a:xfrm>
          <a:prstGeom prst="roundRect">
            <a:avLst>
              <a:gd name="adj" fmla="val 1724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404872" y="2057400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8. cold chain</a:t>
            </a:r>
            <a:endParaRPr lang="en-US" sz="1500" dirty="0"/>
          </a:p>
        </p:txBody>
      </p:sp>
      <p:sp>
        <p:nvSpPr>
          <p:cNvPr id="19" name="Order 9"/>
          <p:cNvSpPr/>
          <p:nvPr/>
        </p:nvSpPr>
        <p:spPr>
          <a:xfrm>
            <a:off x="4261104" y="2057400"/>
            <a:ext cx="1691640" cy="530352"/>
          </a:xfrm>
          <a:prstGeom prst="roundRect">
            <a:avLst>
              <a:gd name="adj" fmla="val 1724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261104" y="2057400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9. pumps</a:t>
            </a:r>
            <a:endParaRPr lang="en-US" sz="1500" dirty="0"/>
          </a:p>
        </p:txBody>
      </p:sp>
      <p:sp>
        <p:nvSpPr>
          <p:cNvPr id="21" name="Order 10"/>
          <p:cNvSpPr/>
          <p:nvPr/>
        </p:nvSpPr>
        <p:spPr>
          <a:xfrm>
            <a:off x="6117336" y="2057400"/>
            <a:ext cx="1691640" cy="530352"/>
          </a:xfrm>
          <a:prstGeom prst="roundRect">
            <a:avLst>
              <a:gd name="adj" fmla="val 1724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117336" y="2057400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10. lab</a:t>
            </a:r>
            <a:endParaRPr lang="en-US" sz="1500" dirty="0"/>
          </a:p>
        </p:txBody>
      </p:sp>
      <p:sp>
        <p:nvSpPr>
          <p:cNvPr id="23" name="Order 11"/>
          <p:cNvSpPr/>
          <p:nvPr/>
        </p:nvSpPr>
        <p:spPr>
          <a:xfrm>
            <a:off x="7973568" y="2057400"/>
            <a:ext cx="1691640" cy="530352"/>
          </a:xfrm>
          <a:prstGeom prst="roundRect">
            <a:avLst>
              <a:gd name="adj" fmla="val 17241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973568" y="2057400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11. wards</a:t>
            </a:r>
            <a:endParaRPr lang="en-US" sz="1500" dirty="0"/>
          </a:p>
        </p:txBody>
      </p:sp>
      <p:sp>
        <p:nvSpPr>
          <p:cNvPr id="25" name="Order 12"/>
          <p:cNvSpPr/>
          <p:nvPr/>
        </p:nvSpPr>
        <p:spPr>
          <a:xfrm>
            <a:off x="9829800" y="2057400"/>
            <a:ext cx="1691640" cy="530352"/>
          </a:xfrm>
          <a:prstGeom prst="roundRect">
            <a:avLst>
              <a:gd name="adj" fmla="val 1724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829800" y="2057400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12. radiology</a:t>
            </a:r>
            <a:endParaRPr lang="en-US" sz="1500" dirty="0"/>
          </a:p>
        </p:txBody>
      </p:sp>
      <p:sp>
        <p:nvSpPr>
          <p:cNvPr id="27" name="Order 13"/>
          <p:cNvSpPr/>
          <p:nvPr/>
        </p:nvSpPr>
        <p:spPr>
          <a:xfrm>
            <a:off x="548640" y="2743200"/>
            <a:ext cx="1691640" cy="530352"/>
          </a:xfrm>
          <a:prstGeom prst="roundRect">
            <a:avLst>
              <a:gd name="adj" fmla="val 1724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48640" y="2743200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13. kitchen</a:t>
            </a:r>
            <a:endParaRPr lang="en-US" sz="1500" dirty="0"/>
          </a:p>
        </p:txBody>
      </p:sp>
      <p:sp>
        <p:nvSpPr>
          <p:cNvPr id="29" name="Order 14"/>
          <p:cNvSpPr/>
          <p:nvPr/>
        </p:nvSpPr>
        <p:spPr>
          <a:xfrm>
            <a:off x="2404872" y="2743200"/>
            <a:ext cx="1691640" cy="530352"/>
          </a:xfrm>
          <a:prstGeom prst="roundRect">
            <a:avLst>
              <a:gd name="adj" fmla="val 1724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404872" y="2743200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14. lifts</a:t>
            </a:r>
            <a:endParaRPr lang="en-US" sz="1500" dirty="0"/>
          </a:p>
        </p:txBody>
      </p:sp>
      <p:sp>
        <p:nvSpPr>
          <p:cNvPr id="31" name="Order 15"/>
          <p:cNvSpPr/>
          <p:nvPr/>
        </p:nvSpPr>
        <p:spPr>
          <a:xfrm>
            <a:off x="4261104" y="2743200"/>
            <a:ext cx="1691640" cy="530352"/>
          </a:xfrm>
          <a:prstGeom prst="roundRect">
            <a:avLst>
              <a:gd name="adj" fmla="val 1724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261104" y="2743200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15. OPD</a:t>
            </a:r>
            <a:endParaRPr lang="en-US" sz="1500" dirty="0"/>
          </a:p>
        </p:txBody>
      </p:sp>
      <p:sp>
        <p:nvSpPr>
          <p:cNvPr id="33" name="Order 16"/>
          <p:cNvSpPr/>
          <p:nvPr/>
        </p:nvSpPr>
        <p:spPr>
          <a:xfrm>
            <a:off x="6117336" y="2743200"/>
            <a:ext cx="1691640" cy="530352"/>
          </a:xfrm>
          <a:prstGeom prst="roundRect">
            <a:avLst>
              <a:gd name="adj" fmla="val 1724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117336" y="2743200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16. corridors</a:t>
            </a:r>
            <a:endParaRPr lang="en-US" sz="1500" dirty="0"/>
          </a:p>
        </p:txBody>
      </p:sp>
      <p:sp>
        <p:nvSpPr>
          <p:cNvPr id="35" name="Order 17"/>
          <p:cNvSpPr/>
          <p:nvPr/>
        </p:nvSpPr>
        <p:spPr>
          <a:xfrm>
            <a:off x="7973568" y="2743200"/>
            <a:ext cx="1691640" cy="530352"/>
          </a:xfrm>
          <a:prstGeom prst="roundRect">
            <a:avLst>
              <a:gd name="adj" fmla="val 1724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973568" y="2743200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17. laundry</a:t>
            </a:r>
            <a:endParaRPr lang="en-US" sz="1500" dirty="0"/>
          </a:p>
        </p:txBody>
      </p:sp>
      <p:sp>
        <p:nvSpPr>
          <p:cNvPr id="37" name="Order 18"/>
          <p:cNvSpPr/>
          <p:nvPr/>
        </p:nvSpPr>
        <p:spPr>
          <a:xfrm>
            <a:off x="9829800" y="2743200"/>
            <a:ext cx="1691640" cy="530352"/>
          </a:xfrm>
          <a:prstGeom prst="roundRect">
            <a:avLst>
              <a:gd name="adj" fmla="val 1724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829800" y="2743200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18. admin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548640" y="3611880"/>
            <a:ext cx="11064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plan_baseline(): 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keep circuits in this order until the generator is 95% full; skip any not wired to it.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accent3"/>
                </a:solidFill>
              </a:rPr>
              <a:t>Its three blind spots: 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it doesn't know where life-support patients are (wards come 11th), it never moves anyone, and it ignores fuel.</a:t>
            </a:r>
            <a:endParaRPr lang="en-US" sz="1600" dirty="0"/>
          </a:p>
        </p:txBody>
      </p:sp>
      <p:sp>
        <p:nvSpPr>
          <p:cNvPr id="40" name="Kid words box"/>
          <p:cNvSpPr/>
          <p:nvPr/>
        </p:nvSpPr>
        <p:spPr>
          <a:xfrm>
            <a:off x="548640" y="5532120"/>
            <a:ext cx="1106424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1" name="Kid words circle"/>
          <p:cNvSpPr/>
          <p:nvPr/>
        </p:nvSpPr>
        <p:spPr>
          <a:xfrm>
            <a:off x="685800" y="5605272"/>
            <a:ext cx="585216" cy="5852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42" name="Kid words icon" descr="Kid word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6252" y="5745724"/>
            <a:ext cx="304312" cy="304312"/>
          </a:xfrm>
          <a:prstGeom prst="rect">
            <a:avLst/>
          </a:prstGeom>
        </p:spPr>
      </p:pic>
      <p:sp>
        <p:nvSpPr>
          <p:cNvPr id="43" name="Text 40"/>
          <p:cNvSpPr txBox="1"/>
          <p:nvPr/>
        </p:nvSpPr>
        <p:spPr>
          <a:xfrm>
            <a:off x="1417320" y="55778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In kid words: </a:t>
            </a:r>
            <a:pPr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It's like always feeding the same rooms first, even if the hungry child is sitting in a different room.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planner.py: the smart helper's rules</a:t>
            </a:r>
            <a:endParaRPr lang="en-US" sz="3400" dirty="0"/>
          </a:p>
        </p:txBody>
      </p:sp>
      <p:sp>
        <p:nvSpPr>
          <p:cNvPr id="3" name="Decisions box"/>
          <p:cNvSpPr/>
          <p:nvPr/>
        </p:nvSpPr>
        <p:spPr>
          <a:xfrm>
            <a:off x="548640" y="1371600"/>
            <a:ext cx="4206240" cy="3886200"/>
          </a:xfrm>
          <a:prstGeom prst="roundRect">
            <a:avLst>
              <a:gd name="adj" fmla="val 28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Decisions circle"/>
          <p:cNvSpPr/>
          <p:nvPr/>
        </p:nvSpPr>
        <p:spPr>
          <a:xfrm>
            <a:off x="777240" y="1554480"/>
            <a:ext cx="685800" cy="6858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5" name="Decisions icon" descr="Decisio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1719072"/>
            <a:ext cx="356616" cy="35661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00200" y="16002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plan_optimal() decides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23160"/>
            <a:ext cx="38404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Keep each circuit on: yes or no?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Move each high-need patient: where to?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Solved by Google OR-Tools CP-SAT in about 0.1 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No answer possible? plan_greedy() gives a best-effort plan</a:t>
            </a:r>
            <a:endParaRPr lang="en-US" sz="1500" dirty="0"/>
          </a:p>
        </p:txBody>
      </p:sp>
      <p:sp>
        <p:nvSpPr>
          <p:cNvPr id="8" name="Rules box"/>
          <p:cNvSpPr/>
          <p:nvPr/>
        </p:nvSpPr>
        <p:spPr>
          <a:xfrm>
            <a:off x="5029200" y="1371600"/>
            <a:ext cx="6583680" cy="3886200"/>
          </a:xfrm>
          <a:prstGeom prst="roundRect">
            <a:avLst>
              <a:gd name="adj" fmla="val 28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5257800" y="150876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9 rules it never breaks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5257800" y="1920240"/>
            <a:ext cx="62179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1.  Every patient ends up in exactly one place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2.  Circuits not wired to the generator stay off; fire lighting and running surgeries stay on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3.  Total load ≤ 95% of the generator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4.  Each circuit within its breaker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5.  Never more patients than beds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6.  Right room type (newborns, ventilators); ICU patients only to ICU beds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7.  Patients in surgery or on dialysis are not moved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8.  Another floor only if a powered lift exists (move check)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9.  Patients only move into rooms that stay on</a:t>
            </a:r>
            <a:endParaRPr lang="en-US" sz="1400" dirty="0"/>
          </a:p>
        </p:txBody>
      </p:sp>
      <p:sp>
        <p:nvSpPr>
          <p:cNvPr id="11" name="Kid words box"/>
          <p:cNvSpPr/>
          <p:nvPr/>
        </p:nvSpPr>
        <p:spPr>
          <a:xfrm>
            <a:off x="548640" y="5532120"/>
            <a:ext cx="1106424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Kid words circle"/>
          <p:cNvSpPr/>
          <p:nvPr/>
        </p:nvSpPr>
        <p:spPr>
          <a:xfrm>
            <a:off x="685800" y="5605272"/>
            <a:ext cx="585216" cy="5852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3" name="Kid words icon" descr="Kid word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252" y="5745724"/>
            <a:ext cx="304312" cy="30431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417320" y="55778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In kid words: </a:t>
            </a:r>
            <a:pPr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The helper has rules it never breaks, like 'never put more children than beds' and 'never use a broken lift'.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planner.py: how it scores a plan</a:t>
            </a:r>
            <a:endParaRPr lang="en-US" sz="3400" dirty="0"/>
          </a:p>
        </p:txBody>
      </p:sp>
      <p:sp>
        <p:nvSpPr>
          <p:cNvPr id="3" name="Score row 1"/>
          <p:cNvSpPr/>
          <p:nvPr/>
        </p:nvSpPr>
        <p:spPr>
          <a:xfrm>
            <a:off x="548640" y="1371600"/>
            <a:ext cx="6400800" cy="658368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31520" y="1371600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+ points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2377440" y="1371600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for every powered patient (ventilator 100, monitor 20 ...)</a:t>
            </a:r>
            <a:endParaRPr lang="en-US" sz="1400" dirty="0"/>
          </a:p>
        </p:txBody>
      </p:sp>
      <p:sp>
        <p:nvSpPr>
          <p:cNvPr id="6" name="Score row 2"/>
          <p:cNvSpPr/>
          <p:nvPr/>
        </p:nvSpPr>
        <p:spPr>
          <a:xfrm>
            <a:off x="548640" y="2148840"/>
            <a:ext cx="6400800" cy="658368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31520" y="2148840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+ value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2377440" y="2148840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for vital non-patient loads: oxygen plant 60, blood bank 40, pumps 25</a:t>
            </a:r>
            <a:endParaRPr lang="en-US" sz="1400" dirty="0"/>
          </a:p>
        </p:txBody>
      </p:sp>
      <p:sp>
        <p:nvSpPr>
          <p:cNvPr id="9" name="Score row 3"/>
          <p:cNvSpPr/>
          <p:nvPr/>
        </p:nvSpPr>
        <p:spPr>
          <a:xfrm>
            <a:off x="548640" y="2926080"/>
            <a:ext cx="6400800" cy="658368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31520" y="2926080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− 0.1 / kW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2377440" y="2926080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small cost for every kW of diesel burned</a:t>
            </a:r>
            <a:endParaRPr lang="en-US" sz="1400" dirty="0"/>
          </a:p>
        </p:txBody>
      </p:sp>
      <p:sp>
        <p:nvSpPr>
          <p:cNvPr id="12" name="Score row 4"/>
          <p:cNvSpPr/>
          <p:nvPr/>
        </p:nvSpPr>
        <p:spPr>
          <a:xfrm>
            <a:off x="548640" y="3703320"/>
            <a:ext cx="6400800" cy="658368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731520" y="3703320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− 1.5 / kW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2377440" y="3703320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above the fuel-safe load, so the diesel lasts until the tanker</a:t>
            </a:r>
            <a:endParaRPr lang="en-US" sz="1400" dirty="0"/>
          </a:p>
        </p:txBody>
      </p:sp>
      <p:sp>
        <p:nvSpPr>
          <p:cNvPr id="15" name="Score row 5"/>
          <p:cNvSpPr/>
          <p:nvPr/>
        </p:nvSpPr>
        <p:spPr>
          <a:xfrm>
            <a:off x="548640" y="4480560"/>
            <a:ext cx="6400800" cy="658368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31520" y="4480560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− 5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2377440" y="4480560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for each patient move (moves take staff time and carry risk)</a:t>
            </a:r>
            <a:endParaRPr lang="en-US" sz="1400" dirty="0"/>
          </a:p>
        </p:txBody>
      </p:sp>
      <p:sp>
        <p:nvSpPr>
          <p:cNvPr id="18" name="Example box"/>
          <p:cNvSpPr/>
          <p:nvPr/>
        </p:nvSpPr>
        <p:spPr>
          <a:xfrm>
            <a:off x="7223760" y="1371600"/>
            <a:ext cx="4389120" cy="3749040"/>
          </a:xfrm>
          <a:prstGeom prst="roundRect">
            <a:avLst>
              <a:gd name="adj" fmla="val 292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7452360" y="15087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Worked example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7452360" y="1965960"/>
            <a:ext cx="39319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A ward circuit uses 8 kW. Cost ≈ 8 × 1.6 = 13 points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One ventilated patient on it is worth 100 points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100 &gt; 13, so the ward stays 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An empty admin AC (30 kW, value 1) costs more than it is worth, so it goes off</a:t>
            </a:r>
            <a:endParaRPr lang="en-US" sz="1500" dirty="0"/>
          </a:p>
        </p:txBody>
      </p:sp>
      <p:sp>
        <p:nvSpPr>
          <p:cNvPr id="21" name="Kid words box"/>
          <p:cNvSpPr/>
          <p:nvPr/>
        </p:nvSpPr>
        <p:spPr>
          <a:xfrm>
            <a:off x="548640" y="5532120"/>
            <a:ext cx="1106424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Kid words circle"/>
          <p:cNvSpPr/>
          <p:nvPr/>
        </p:nvSpPr>
        <p:spPr>
          <a:xfrm>
            <a:off x="685800" y="5605272"/>
            <a:ext cx="585216" cy="5852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3" name="Kid words icon" descr="Kid word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6252" y="5745724"/>
            <a:ext cx="304312" cy="304312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1417320" y="55778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In kid words: </a:t>
            </a:r>
            <a:pPr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Every plan gets a score. The helper tries thousands of plans and picks the one with the most stars.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plan.py: reading the answer</a:t>
            </a:r>
            <a:endParaRPr lang="en-US" sz="3400" dirty="0"/>
          </a:p>
        </p:txBody>
      </p:sp>
      <p:graphicFrame>
        <p:nvGraphicFramePr>
          <p:cNvPr id="14" name="Plan helper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84124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Function</a:t>
                      </a:r>
                      <a:endParaRPr lang="en-US" sz="15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What it gives back</a:t>
                      </a:r>
                      <a:endParaRPr lang="en-US" sz="15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Plan</a:t>
                      </a:r>
                      <a:endParaRPr lang="en-US" sz="15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the answer: kept circuits, where each patient ends up, moves, delayed surgeries</a:t>
                      </a:r>
                      <a:endParaRPr lang="en-US" sz="15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circuit_loads()</a:t>
                      </a:r>
                      <a:endParaRPr lang="en-US" sz="15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kW on every circuit after the plan (0 if cut)</a:t>
                      </a:r>
                      <a:endParaRPr lang="en-US" sz="15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patient_status()</a:t>
                      </a:r>
                      <a:endParaRPr lang="en-US" sz="15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for every patient: final room, powered yes/no, moved yes/no</a:t>
                      </a:r>
                      <a:endParaRPr lang="en-US" sz="15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summarize()</a:t>
                      </a:r>
                      <a:endParaRPr lang="en-US" sz="15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the headline numbers: kW kept, diesel L/h, runtime, life support powered</a:t>
                      </a:r>
                      <a:endParaRPr lang="en-US" sz="15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nonessential_kw()</a:t>
                      </a:r>
                      <a:endParaRPr lang="en-US" sz="15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power wasted on empty theatres, offices, corridors</a:t>
                      </a:r>
                      <a:endParaRPr lang="en-US" sz="15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delayed_surgeries()</a:t>
                      </a:r>
                      <a:endParaRPr lang="en-US" sz="15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waiting surgeries whose theatre is switched off</a:t>
                      </a:r>
                      <a:endParaRPr lang="en-US" sz="15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lift_powered()</a:t>
                      </a:r>
                      <a:endParaRPr lang="en-US" sz="15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is any lift on the generator and kept on?</a:t>
                      </a:r>
                      <a:endParaRPr lang="en-US" sz="15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Kid words box"/>
          <p:cNvSpPr/>
          <p:nvPr/>
        </p:nvSpPr>
        <p:spPr>
          <a:xfrm>
            <a:off x="548640" y="5532120"/>
            <a:ext cx="1106424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Kid words circle"/>
          <p:cNvSpPr/>
          <p:nvPr/>
        </p:nvSpPr>
        <p:spPr>
          <a:xfrm>
            <a:off x="685800" y="5605272"/>
            <a:ext cx="585216" cy="5852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6" name="Kid words icon" descr="Kid word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6252" y="5745724"/>
            <a:ext cx="304312" cy="30431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17320" y="55778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In kid words: </a:t>
            </a:r>
            <a:pPr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These read the helper's answer and count: how many children have light, how much diesel is left.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Danger clock, pre-outage check, what-if</a:t>
            </a:r>
            <a:endParaRPr lang="en-US" sz="3400" dirty="0"/>
          </a:p>
        </p:txBody>
      </p:sp>
      <p:sp>
        <p:nvSpPr>
          <p:cNvPr id="3" name="danger_clock()"/>
          <p:cNvSpPr/>
          <p:nvPr/>
        </p:nvSpPr>
        <p:spPr>
          <a:xfrm>
            <a:off x="548640" y="1371600"/>
            <a:ext cx="3474720" cy="388620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danger_clock() circle"/>
          <p:cNvSpPr/>
          <p:nvPr/>
        </p:nvSpPr>
        <p:spPr>
          <a:xfrm>
            <a:off x="777240" y="1554480"/>
            <a:ext cx="685800" cy="68580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5" name="danger_clock() icon" descr="danger_clock(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1719072"/>
            <a:ext cx="356616" cy="35661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00200" y="15544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danger_clock()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600200" y="193852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danger_clock.py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423160"/>
            <a:ext cx="30632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Minutes until each patient's device loses power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Cut circuit → battery only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Kept → until the diesel runs out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Red &lt; 30 min, amber &lt; 2 h</a:t>
            </a:r>
            <a:endParaRPr lang="en-US" sz="1500" dirty="0"/>
          </a:p>
        </p:txBody>
      </p:sp>
      <p:sp>
        <p:nvSpPr>
          <p:cNvPr id="9" name="precheck()"/>
          <p:cNvSpPr/>
          <p:nvPr/>
        </p:nvSpPr>
        <p:spPr>
          <a:xfrm>
            <a:off x="4297680" y="1371600"/>
            <a:ext cx="3474720" cy="388620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precheck() circle"/>
          <p:cNvSpPr/>
          <p:nvPr/>
        </p:nvSpPr>
        <p:spPr>
          <a:xfrm>
            <a:off x="4526280" y="1554480"/>
            <a:ext cx="685800" cy="6858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11" name="precheck() icon" descr="precheck(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0872" y="1719072"/>
            <a:ext cx="356616" cy="35661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349240" y="15544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precheck()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5349240" y="193852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precheck.py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4526280" y="2423160"/>
            <a:ext cx="30632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Run on a normal day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Life support on a circuit with no backup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Lifts with no backup, no evacuation route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Overloads, weak batteries, fuel short, missing data</a:t>
            </a:r>
            <a:endParaRPr lang="en-US" sz="1500" dirty="0"/>
          </a:p>
        </p:txBody>
      </p:sp>
      <p:sp>
        <p:nvSpPr>
          <p:cNvPr id="15" name="apply_whatif()"/>
          <p:cNvSpPr/>
          <p:nvPr/>
        </p:nvSpPr>
        <p:spPr>
          <a:xfrm>
            <a:off x="8046720" y="1371600"/>
            <a:ext cx="3474720" cy="388620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apply_whatif() circle"/>
          <p:cNvSpPr/>
          <p:nvPr/>
        </p:nvSpPr>
        <p:spPr>
          <a:xfrm>
            <a:off x="8275320" y="1554480"/>
            <a:ext cx="685800" cy="6858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7" name="apply_whatif() icon" descr="apply_whatif()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9912" y="1719072"/>
            <a:ext cx="356616" cy="356616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9098280" y="15544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apply_whatif()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9098280" y="193852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whatif.py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8275320" y="2423160"/>
            <a:ext cx="30632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Copies the hospital and makes it worse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Lose generator %, lose fuel %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Outage longer, tanker late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Then re-plan and compare</a:t>
            </a:r>
            <a:endParaRPr lang="en-US" sz="1500" dirty="0"/>
          </a:p>
        </p:txBody>
      </p:sp>
      <p:sp>
        <p:nvSpPr>
          <p:cNvPr id="21" name="Kid words box"/>
          <p:cNvSpPr/>
          <p:nvPr/>
        </p:nvSpPr>
        <p:spPr>
          <a:xfrm>
            <a:off x="548640" y="5532120"/>
            <a:ext cx="1106424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Kid words circle"/>
          <p:cNvSpPr/>
          <p:nvPr/>
        </p:nvSpPr>
        <p:spPr>
          <a:xfrm>
            <a:off x="685800" y="5605272"/>
            <a:ext cx="585216" cy="5852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3" name="Kid words icon" descr="Kid word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252" y="5745724"/>
            <a:ext cx="304312" cy="304312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417320" y="55778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In kid words: </a:t>
            </a:r>
            <a:pPr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A timer shows who is in a hurry, a checker finds broken wires early, and a 'what if' game practises bad days.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run_sim.py: testing on 50 different nights</a:t>
            </a:r>
            <a:endParaRPr lang="en-US" sz="3400" dirty="0"/>
          </a:p>
        </p:txBody>
      </p:sp>
      <p:graphicFrame>
        <p:nvGraphicFramePr>
          <p:cNvPr id="16" name="Sim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658368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3891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Function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Job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make_scenario()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builds one random night: census, faults, generator, fuel, outage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blackout_hours()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how long the generator is off because the tank is empty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evaluate()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scores one plan against what really happened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run_all()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50 nights × both methods → results.csv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summarize_results()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totals and averages for the Evidence tab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im ranges"/>
          <p:cNvSpPr/>
          <p:nvPr/>
        </p:nvSpPr>
        <p:spPr>
          <a:xfrm>
            <a:off x="7406640" y="1371600"/>
            <a:ext cx="4206240" cy="3886200"/>
          </a:xfrm>
          <a:prstGeom prst="roundRect">
            <a:avLst>
              <a:gd name="adj" fmla="val 28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7635240" y="15087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What changes each night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7635240" y="1965960"/>
            <a:ext cx="37490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Beds filled 70–110%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Generator 40–70% of demand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Fuel 40–100% of the tank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Outage 2–24 h, staff guess ±30% wrong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Tanker 6–18 h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Random wiring faults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Plus ±20% sensitivity runs (200 more nights)</a:t>
            </a:r>
            <a:endParaRPr lang="en-US" sz="1500" dirty="0"/>
          </a:p>
        </p:txBody>
      </p:sp>
      <p:sp>
        <p:nvSpPr>
          <p:cNvPr id="7" name="Kid words box"/>
          <p:cNvSpPr/>
          <p:nvPr/>
        </p:nvSpPr>
        <p:spPr>
          <a:xfrm>
            <a:off x="548640" y="5532120"/>
            <a:ext cx="1106424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Kid words circle"/>
          <p:cNvSpPr/>
          <p:nvPr/>
        </p:nvSpPr>
        <p:spPr>
          <a:xfrm>
            <a:off x="685800" y="5605272"/>
            <a:ext cx="585216" cy="5852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9" name="Kid words icon" descr="Kid word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6252" y="5745724"/>
            <a:ext cx="304312" cy="30431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17320" y="55778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In kid words: </a:t>
            </a:r>
            <a:pPr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We play the same bad night 50 different ways and see who did better: the old list or our helper.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app.py, ui.py, tests: what judges see</a:t>
            </a:r>
            <a:endParaRPr lang="en-US" sz="3400" dirty="0"/>
          </a:p>
        </p:txBody>
      </p:sp>
      <p:sp>
        <p:nvSpPr>
          <p:cNvPr id="3" name="Tab Live demo"/>
          <p:cNvSpPr/>
          <p:nvPr/>
        </p:nvSpPr>
        <p:spPr>
          <a:xfrm>
            <a:off x="548640" y="1371600"/>
            <a:ext cx="260604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31520" y="148132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Live demo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8745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colour map, 3 clicks</a:t>
            </a:r>
            <a:endParaRPr lang="en-US" sz="1400" dirty="0"/>
          </a:p>
        </p:txBody>
      </p:sp>
      <p:sp>
        <p:nvSpPr>
          <p:cNvPr id="6" name="Tab Plan details"/>
          <p:cNvSpPr/>
          <p:nvPr/>
        </p:nvSpPr>
        <p:spPr>
          <a:xfrm>
            <a:off x="3337560" y="1371600"/>
            <a:ext cx="260604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3520440" y="148132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Plan details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3520440" y="18745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keep/cut table, moves, printable plan</a:t>
            </a:r>
            <a:endParaRPr lang="en-US" sz="1400" dirty="0"/>
          </a:p>
        </p:txBody>
      </p:sp>
      <p:sp>
        <p:nvSpPr>
          <p:cNvPr id="9" name="Tab Danger clock"/>
          <p:cNvSpPr/>
          <p:nvPr/>
        </p:nvSpPr>
        <p:spPr>
          <a:xfrm>
            <a:off x="6126480" y="1371600"/>
            <a:ext cx="260604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309360" y="148132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Danger clock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309360" y="18745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who runs out first</a:t>
            </a:r>
            <a:endParaRPr lang="en-US" sz="1400" dirty="0"/>
          </a:p>
        </p:txBody>
      </p:sp>
      <p:sp>
        <p:nvSpPr>
          <p:cNvPr id="12" name="Tab What-if"/>
          <p:cNvSpPr/>
          <p:nvPr/>
        </p:nvSpPr>
        <p:spPr>
          <a:xfrm>
            <a:off x="8915400" y="1371600"/>
            <a:ext cx="260604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9098280" y="148132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What-if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9098280" y="18745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sliders for bad days</a:t>
            </a:r>
            <a:endParaRPr lang="en-US" sz="1400" dirty="0"/>
          </a:p>
        </p:txBody>
      </p:sp>
      <p:sp>
        <p:nvSpPr>
          <p:cNvPr id="15" name="Tab Pre-outage check"/>
          <p:cNvSpPr/>
          <p:nvPr/>
        </p:nvSpPr>
        <p:spPr>
          <a:xfrm>
            <a:off x="548640" y="2606040"/>
            <a:ext cx="260604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31520" y="271576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Pre-outage check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31089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problems + fixes</a:t>
            </a:r>
            <a:endParaRPr lang="en-US" sz="1400" dirty="0"/>
          </a:p>
        </p:txBody>
      </p:sp>
      <p:sp>
        <p:nvSpPr>
          <p:cNvPr id="18" name="Tab Evidence"/>
          <p:cNvSpPr/>
          <p:nvPr/>
        </p:nvSpPr>
        <p:spPr>
          <a:xfrm>
            <a:off x="3337560" y="2606040"/>
            <a:ext cx="260604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3520440" y="271576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Evidence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3520440" y="31089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50-night charts</a:t>
            </a:r>
            <a:endParaRPr lang="en-US" sz="1400" dirty="0"/>
          </a:p>
        </p:txBody>
      </p:sp>
      <p:sp>
        <p:nvSpPr>
          <p:cNvPr id="21" name="Tab Hospital data"/>
          <p:cNvSpPr/>
          <p:nvPr/>
        </p:nvSpPr>
        <p:spPr>
          <a:xfrm>
            <a:off x="6126480" y="2606040"/>
            <a:ext cx="260604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6309360" y="271576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Hospital data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6309360" y="31089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edit or upload Excel</a:t>
            </a:r>
            <a:endParaRPr lang="en-US" sz="1400" dirty="0"/>
          </a:p>
        </p:txBody>
      </p:sp>
      <p:sp>
        <p:nvSpPr>
          <p:cNvPr id="24" name="Tests card"/>
          <p:cNvSpPr/>
          <p:nvPr/>
        </p:nvSpPr>
        <p:spPr>
          <a:xfrm>
            <a:off x="8915400" y="2606040"/>
            <a:ext cx="2697480" cy="1051560"/>
          </a:xfrm>
          <a:prstGeom prst="roundRect">
            <a:avLst>
              <a:gd name="adj" fmla="val 1043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9098280" y="271576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31 tests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9098280" y="31089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prove no hard rule breaks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39776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ui.py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draws the cards and hospital_map().  </a:t>
            </a:r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export_static.py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makes the one-page web version.</a:t>
            </a:r>
            <a:endParaRPr lang="en-US" sz="1600" dirty="0"/>
          </a:p>
        </p:txBody>
      </p:sp>
      <p:sp>
        <p:nvSpPr>
          <p:cNvPr id="28" name="Kid words box"/>
          <p:cNvSpPr/>
          <p:nvPr/>
        </p:nvSpPr>
        <p:spPr>
          <a:xfrm>
            <a:off x="548640" y="5532120"/>
            <a:ext cx="1106424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Kid words circle"/>
          <p:cNvSpPr/>
          <p:nvPr/>
        </p:nvSpPr>
        <p:spPr>
          <a:xfrm>
            <a:off x="685800" y="5605272"/>
            <a:ext cx="585216" cy="5852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30" name="Kid words icon" descr="Kid word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6252" y="5745724"/>
            <a:ext cx="304312" cy="304312"/>
          </a:xfrm>
          <a:prstGeom prst="rect">
            <a:avLst/>
          </a:prstGeom>
        </p:spPr>
      </p:pic>
      <p:sp>
        <p:nvSpPr>
          <p:cNvPr id="31" name="Text 28"/>
          <p:cNvSpPr txBox="1"/>
          <p:nvPr/>
        </p:nvSpPr>
        <p:spPr>
          <a:xfrm>
            <a:off x="1417320" y="55778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In kid words: </a:t>
            </a:r>
            <a:pPr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These are the pictures and buttons, plus robot checkers that make sure the helper never cheats.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Results: 50 nights, today's list vs our plan</a:t>
            </a:r>
            <a:endParaRPr lang="en-US" sz="3400" dirty="0"/>
          </a:p>
        </p:txBody>
      </p:sp>
      <p:graphicFrame>
        <p:nvGraphicFramePr>
          <p:cNvPr id="3" name="Results chart" descr=""/>
          <p:cNvGraphicFramePr/>
          <p:nvPr/>
        </p:nvGraphicFramePr>
        <p:xfrm>
          <a:off x="548640" y="1280160"/>
          <a:ext cx="731520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Never worse card"/>
          <p:cNvSpPr/>
          <p:nvPr/>
        </p:nvSpPr>
        <p:spPr>
          <a:xfrm>
            <a:off x="8138160" y="1280160"/>
            <a:ext cx="3474720" cy="4023360"/>
          </a:xfrm>
          <a:prstGeom prst="roundRect">
            <a:avLst>
              <a:gd name="adj" fmla="val 3158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8321040" y="15087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50 / 50</a:t>
            </a:r>
            <a:endParaRPr lang="en-US" sz="5400" dirty="0"/>
          </a:p>
        </p:txBody>
      </p:sp>
      <p:sp>
        <p:nvSpPr>
          <p:cNvPr id="6" name="Text 3"/>
          <p:cNvSpPr txBox="1"/>
          <p:nvPr/>
        </p:nvSpPr>
        <p:spPr>
          <a:xfrm>
            <a:off x="8321040" y="251460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nights where our plan was as good or better (better in 44, tied in 6)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321040" y="365760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bg1"/>
                </a:solidFill>
              </a:rPr>
              <a:t>In 200 extra ±20% nights it lost 3 times, when the outage guess was wrong. Say this honestly.</a:t>
            </a:r>
            <a:endParaRPr lang="en-US" sz="1400" dirty="0"/>
          </a:p>
        </p:txBody>
      </p:sp>
      <p:sp>
        <p:nvSpPr>
          <p:cNvPr id="8" name="Kid words box"/>
          <p:cNvSpPr/>
          <p:nvPr/>
        </p:nvSpPr>
        <p:spPr>
          <a:xfrm>
            <a:off x="548640" y="5532120"/>
            <a:ext cx="1106424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Kid words circle"/>
          <p:cNvSpPr/>
          <p:nvPr/>
        </p:nvSpPr>
        <p:spPr>
          <a:xfrm>
            <a:off x="685800" y="5605272"/>
            <a:ext cx="585216" cy="5852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0" name="Kid words icon" descr="Kid word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252" y="5745724"/>
            <a:ext cx="304312" cy="30431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417320" y="55778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In kid words: </a:t>
            </a:r>
            <a:pPr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On 50 pretend nights, our helper kept more children's machines running and wasted less diesel.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Energy impact, per hour of outage</a:t>
            </a:r>
            <a:endParaRPr lang="en-US" sz="3400" dirty="0"/>
          </a:p>
        </p:txBody>
      </p:sp>
      <p:sp>
        <p:nvSpPr>
          <p:cNvPr id="3" name="Impact 1"/>
          <p:cNvSpPr/>
          <p:nvPr/>
        </p:nvSpPr>
        <p:spPr>
          <a:xfrm>
            <a:off x="548640" y="1371600"/>
            <a:ext cx="2606040" cy="329184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Impact 1 circle"/>
          <p:cNvSpPr/>
          <p:nvPr/>
        </p:nvSpPr>
        <p:spPr>
          <a:xfrm>
            <a:off x="822960" y="1600200"/>
            <a:ext cx="731520" cy="7315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5" name="Impact 1 icon" descr="Impact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1775765"/>
            <a:ext cx="380390" cy="38039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5146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2"/>
                </a:solidFill>
              </a:rPr>
              <a:t>11.3 L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38328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diesel saved every outage hour (−10%)</a:t>
            </a:r>
            <a:endParaRPr lang="en-US" sz="1500" dirty="0"/>
          </a:p>
        </p:txBody>
      </p:sp>
      <p:sp>
        <p:nvSpPr>
          <p:cNvPr id="8" name="Impact 2"/>
          <p:cNvSpPr/>
          <p:nvPr/>
        </p:nvSpPr>
        <p:spPr>
          <a:xfrm>
            <a:off x="3364992" y="1371600"/>
            <a:ext cx="2606040" cy="329184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Impact 2 circle"/>
          <p:cNvSpPr/>
          <p:nvPr/>
        </p:nvSpPr>
        <p:spPr>
          <a:xfrm>
            <a:off x="3639312" y="1600200"/>
            <a:ext cx="731520" cy="73152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10" name="Impact 2 icon" descr="Impact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4877" y="1775765"/>
            <a:ext cx="380390" cy="38039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639312" y="25146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2"/>
                </a:solidFill>
              </a:rPr>
              <a:t>≈ ₹1,017</a:t>
            </a:r>
            <a:endParaRPr lang="en-US" sz="4000" dirty="0"/>
          </a:p>
        </p:txBody>
      </p:sp>
      <p:sp>
        <p:nvSpPr>
          <p:cNvPr id="12" name="Text 8"/>
          <p:cNvSpPr txBox="1"/>
          <p:nvPr/>
        </p:nvSpPr>
        <p:spPr>
          <a:xfrm>
            <a:off x="3639312" y="338328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saved per outage hour at ₹90/L</a:t>
            </a:r>
            <a:endParaRPr lang="en-US" sz="1500" dirty="0"/>
          </a:p>
        </p:txBody>
      </p:sp>
      <p:sp>
        <p:nvSpPr>
          <p:cNvPr id="13" name="Impact 3"/>
          <p:cNvSpPr/>
          <p:nvPr/>
        </p:nvSpPr>
        <p:spPr>
          <a:xfrm>
            <a:off x="6181344" y="1371600"/>
            <a:ext cx="2606040" cy="329184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Impact 3 circle"/>
          <p:cNvSpPr/>
          <p:nvPr/>
        </p:nvSpPr>
        <p:spPr>
          <a:xfrm>
            <a:off x="6455664" y="1600200"/>
            <a:ext cx="731520" cy="7315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15" name="Impact 3 icon" descr="Impact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1229" y="1775765"/>
            <a:ext cx="380390" cy="38039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455664" y="25146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2"/>
                </a:solidFill>
              </a:rPr>
              <a:t>30 kg</a:t>
            </a:r>
            <a:endParaRPr lang="en-US" sz="4000" dirty="0"/>
          </a:p>
        </p:txBody>
      </p:sp>
      <p:sp>
        <p:nvSpPr>
          <p:cNvPr id="17" name="Text 12"/>
          <p:cNvSpPr txBox="1"/>
          <p:nvPr/>
        </p:nvSpPr>
        <p:spPr>
          <a:xfrm>
            <a:off x="6455664" y="338328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CO₂ avoided per outage hour (2.68 kg/L)</a:t>
            </a:r>
            <a:endParaRPr lang="en-US" sz="1500" dirty="0"/>
          </a:p>
        </p:txBody>
      </p:sp>
      <p:sp>
        <p:nvSpPr>
          <p:cNvPr id="18" name="Impact 4"/>
          <p:cNvSpPr/>
          <p:nvPr/>
        </p:nvSpPr>
        <p:spPr>
          <a:xfrm>
            <a:off x="8997696" y="1371600"/>
            <a:ext cx="2606040" cy="329184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Impact 4 circle"/>
          <p:cNvSpPr/>
          <p:nvPr/>
        </p:nvSpPr>
        <p:spPr>
          <a:xfrm>
            <a:off x="9272016" y="1600200"/>
            <a:ext cx="731520" cy="7315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20" name="Impact 4 icon" descr="Impact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7581" y="1775765"/>
            <a:ext cx="380390" cy="38039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272016" y="25146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2"/>
                </a:solidFill>
              </a:rPr>
              <a:t>+1.3 h</a:t>
            </a:r>
            <a:endParaRPr lang="en-US" sz="4000" dirty="0"/>
          </a:p>
        </p:txBody>
      </p:sp>
      <p:sp>
        <p:nvSpPr>
          <p:cNvPr id="22" name="Text 16"/>
          <p:cNvSpPr txBox="1"/>
          <p:nvPr/>
        </p:nvSpPr>
        <p:spPr>
          <a:xfrm>
            <a:off x="9272016" y="338328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more runtime from every full tank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548640" y="4892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6"/>
                </a:solidFill>
              </a:rPr>
              <a:t>Honest note: total litres fall only ~4%, because our generator keeps running longer (fewer blackouts).</a:t>
            </a:r>
            <a:endParaRPr lang="en-US" sz="1500" dirty="0"/>
          </a:p>
        </p:txBody>
      </p:sp>
      <p:sp>
        <p:nvSpPr>
          <p:cNvPr id="24" name="Kid words box"/>
          <p:cNvSpPr/>
          <p:nvPr/>
        </p:nvSpPr>
        <p:spPr>
          <a:xfrm>
            <a:off x="548640" y="5532120"/>
            <a:ext cx="1106424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Kid words circle"/>
          <p:cNvSpPr/>
          <p:nvPr/>
        </p:nvSpPr>
        <p:spPr>
          <a:xfrm>
            <a:off x="685800" y="5605272"/>
            <a:ext cx="585216" cy="5852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6" name="Kid words icon" descr="Kid word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252" y="5745724"/>
            <a:ext cx="304312" cy="304312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417320" y="55778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In kid words: </a:t>
            </a:r>
            <a:pPr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We stop giving diesel to empty rooms, so the same tank lasts longer and makes less smoke.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The demo in 3 clicks</a:t>
            </a:r>
            <a:endParaRPr lang="en-US" sz="3400" dirty="0"/>
          </a:p>
        </p:txBody>
      </p:sp>
      <p:sp>
        <p:nvSpPr>
          <p:cNvPr id="3" name="Demo step 1"/>
          <p:cNvSpPr/>
          <p:nvPr/>
        </p:nvSpPr>
        <p:spPr>
          <a:xfrm>
            <a:off x="548640" y="1371600"/>
            <a:ext cx="3474720" cy="384048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Demo num 1"/>
          <p:cNvSpPr/>
          <p:nvPr/>
        </p:nvSpPr>
        <p:spPr>
          <a:xfrm>
            <a:off x="822960" y="1600200"/>
            <a:ext cx="731520" cy="7315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1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146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Today: fixed list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108960"/>
            <a:ext cx="2926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34 / 52 life support powered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44 kW wasted on empty rooms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red flashing dots in wards</a:t>
            </a:r>
            <a:endParaRPr lang="en-US" sz="1600" dirty="0"/>
          </a:p>
        </p:txBody>
      </p:sp>
      <p:sp>
        <p:nvSpPr>
          <p:cNvPr id="8" name="Demo step 2"/>
          <p:cNvSpPr/>
          <p:nvPr/>
        </p:nvSpPr>
        <p:spPr>
          <a:xfrm>
            <a:off x="4297680" y="1371600"/>
            <a:ext cx="3474720" cy="384048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Demo num 2"/>
          <p:cNvSpPr/>
          <p:nvPr/>
        </p:nvSpPr>
        <p:spPr>
          <a:xfrm>
            <a:off x="4572000" y="1600200"/>
            <a:ext cx="731520" cy="7315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0" y="1600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2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25146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Our patient-aware plan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3108960"/>
            <a:ext cx="2926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52 / 52 powered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0 kW wasted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2 moves out of the isolation ward</a:t>
            </a:r>
            <a:endParaRPr lang="en-US" sz="1600" dirty="0"/>
          </a:p>
        </p:txBody>
      </p:sp>
      <p:sp>
        <p:nvSpPr>
          <p:cNvPr id="13" name="Demo step 3"/>
          <p:cNvSpPr/>
          <p:nvPr/>
        </p:nvSpPr>
        <p:spPr>
          <a:xfrm>
            <a:off x="8046720" y="1371600"/>
            <a:ext cx="3474720" cy="384048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Demo num 3"/>
          <p:cNvSpPr/>
          <p:nvPr/>
        </p:nvSpPr>
        <p:spPr>
          <a:xfrm>
            <a:off x="8321040" y="160020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1600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3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25146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Generator set 2 fails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3108960"/>
            <a:ext cx="2926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our plan: 44 / 52 powered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today's list: 21 / 52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diesel lasts 17 h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4406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chemeClr val="accent1"/>
                </a:solidFill>
              </a:rPr>
              <a:t>Then open Evidence (50 outages) for the proof.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Honest limits and tough questions</a:t>
            </a:r>
            <a:endParaRPr lang="en-US" sz="3400" dirty="0"/>
          </a:p>
        </p:txBody>
      </p:sp>
      <p:sp>
        <p:nvSpPr>
          <p:cNvPr id="3" name="Limits box"/>
          <p:cNvSpPr/>
          <p:nvPr/>
        </p:nvSpPr>
        <p:spPr>
          <a:xfrm>
            <a:off x="548640" y="1371600"/>
            <a:ext cx="4572000" cy="3931920"/>
          </a:xfrm>
          <a:prstGeom prst="roundRect">
            <a:avLst>
              <a:gd name="adj" fmla="val 27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77240" y="15087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Say these before judges ask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96596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Simulation with fake data, not a real hospital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Advisor only: staff decide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Points are examples; doctors approve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Switching is per circuit, not per bed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Generic fuel curve; use the real datasheet</a:t>
            </a:r>
            <a:endParaRPr lang="en-US" sz="1500" dirty="0"/>
          </a:p>
        </p:txBody>
      </p:sp>
      <p:sp>
        <p:nvSpPr>
          <p:cNvPr id="6" name="QA 1"/>
          <p:cNvSpPr/>
          <p:nvPr/>
        </p:nvSpPr>
        <p:spPr>
          <a:xfrm>
            <a:off x="5394960" y="1371600"/>
            <a:ext cx="6217920" cy="896112"/>
          </a:xfrm>
          <a:prstGeom prst="roundRect">
            <a:avLst>
              <a:gd name="adj" fmla="val 122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5577840" y="141732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Hospitals already have backup branches by code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Those are fixed when wired. We adapt to tonight's patients and fuel, and find wiring that isn't to code</a:t>
            </a:r>
            <a:endParaRPr lang="en-US" sz="1400" dirty="0"/>
          </a:p>
        </p:txBody>
      </p:sp>
      <p:sp>
        <p:nvSpPr>
          <p:cNvPr id="8" name="QA 2"/>
          <p:cNvSpPr/>
          <p:nvPr/>
        </p:nvSpPr>
        <p:spPr>
          <a:xfrm>
            <a:off x="5394960" y="2377440"/>
            <a:ext cx="6217920" cy="896112"/>
          </a:xfrm>
          <a:prstGeom prst="roundRect">
            <a:avLst>
              <a:gd name="adj" fmla="val 122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5577840" y="242316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Moving ventilated patients is risky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Only into powered rooms, ICU to ICU only, with a powered lift; it flags when to bag by hand</a:t>
            </a:r>
            <a:endParaRPr lang="en-US" sz="1400" dirty="0"/>
          </a:p>
        </p:txBody>
      </p:sp>
      <p:sp>
        <p:nvSpPr>
          <p:cNvPr id="10" name="QA 3"/>
          <p:cNvSpPr/>
          <p:nvPr/>
        </p:nvSpPr>
        <p:spPr>
          <a:xfrm>
            <a:off x="5394960" y="3383280"/>
            <a:ext cx="6217920" cy="896112"/>
          </a:xfrm>
          <a:prstGeom prst="roundRect">
            <a:avLst>
              <a:gd name="adj" fmla="val 122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5577840" y="342900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Why not a bigger generator?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Costs lakhs and months. Ours is nearly free and helps when a generator fails</a:t>
            </a:r>
            <a:endParaRPr lang="en-US" sz="1400" dirty="0"/>
          </a:p>
        </p:txBody>
      </p:sp>
      <p:sp>
        <p:nvSpPr>
          <p:cNvPr id="12" name="QA 4"/>
          <p:cNvSpPr/>
          <p:nvPr/>
        </p:nvSpPr>
        <p:spPr>
          <a:xfrm>
            <a:off x="5394960" y="4389120"/>
            <a:ext cx="6217920" cy="896112"/>
          </a:xfrm>
          <a:prstGeom prst="roundRect">
            <a:avLst>
              <a:gd name="adj" fmla="val 122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5577840" y="443484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Is the test biased?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Same data for both; we report ties, 3 losses and the small 4% litre saving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Check yourself: every member answers these</a:t>
            </a:r>
            <a:endParaRPr lang="en-US" sz="3400" dirty="0"/>
          </a:p>
        </p:txBody>
      </p:sp>
      <p:sp>
        <p:nvSpPr>
          <p:cNvPr id="3" name="Quiz 1"/>
          <p:cNvSpPr/>
          <p:nvPr/>
        </p:nvSpPr>
        <p:spPr>
          <a:xfrm>
            <a:off x="548640" y="1371600"/>
            <a:ext cx="5440680" cy="82296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Quiz num 1"/>
          <p:cNvSpPr/>
          <p:nvPr/>
        </p:nvSpPr>
        <p:spPr>
          <a:xfrm>
            <a:off x="713232" y="1527048"/>
            <a:ext cx="512064" cy="51206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13232" y="15270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371600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What problem do we solve, in one sentence?</a:t>
            </a:r>
            <a:endParaRPr lang="en-US" sz="1600" dirty="0"/>
          </a:p>
        </p:txBody>
      </p:sp>
      <p:sp>
        <p:nvSpPr>
          <p:cNvPr id="7" name="Quiz 2"/>
          <p:cNvSpPr/>
          <p:nvPr/>
        </p:nvSpPr>
        <p:spPr>
          <a:xfrm>
            <a:off x="6172200" y="1371600"/>
            <a:ext cx="5440680" cy="82296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Quiz num 2"/>
          <p:cNvSpPr/>
          <p:nvPr/>
        </p:nvSpPr>
        <p:spPr>
          <a:xfrm>
            <a:off x="6336792" y="1527048"/>
            <a:ext cx="512064" cy="51206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36792" y="15270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040880" y="1371600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What are the 5 tables of data?</a:t>
            </a:r>
            <a:endParaRPr lang="en-US" sz="1600" dirty="0"/>
          </a:p>
        </p:txBody>
      </p:sp>
      <p:sp>
        <p:nvSpPr>
          <p:cNvPr id="11" name="Quiz 3"/>
          <p:cNvSpPr/>
          <p:nvPr/>
        </p:nvSpPr>
        <p:spPr>
          <a:xfrm>
            <a:off x="548640" y="2359152"/>
            <a:ext cx="5440680" cy="82296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Quiz num 3"/>
          <p:cNvSpPr/>
          <p:nvPr/>
        </p:nvSpPr>
        <p:spPr>
          <a:xfrm>
            <a:off x="713232" y="2514600"/>
            <a:ext cx="512064" cy="51206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13232" y="25146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2359152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Why does a ventilator get 100 points?</a:t>
            </a:r>
            <a:endParaRPr lang="en-US" sz="1600" dirty="0"/>
          </a:p>
        </p:txBody>
      </p:sp>
      <p:sp>
        <p:nvSpPr>
          <p:cNvPr id="15" name="Quiz 4"/>
          <p:cNvSpPr/>
          <p:nvPr/>
        </p:nvSpPr>
        <p:spPr>
          <a:xfrm>
            <a:off x="6172200" y="2359152"/>
            <a:ext cx="5440680" cy="82296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Quiz num 4"/>
          <p:cNvSpPr/>
          <p:nvPr/>
        </p:nvSpPr>
        <p:spPr>
          <a:xfrm>
            <a:off x="6336792" y="2514600"/>
            <a:ext cx="512064" cy="51206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36792" y="25146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040880" y="2359152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What does fuel_safe_load() calculate?</a:t>
            </a:r>
            <a:endParaRPr lang="en-US" sz="1600" dirty="0"/>
          </a:p>
        </p:txBody>
      </p:sp>
      <p:sp>
        <p:nvSpPr>
          <p:cNvPr id="19" name="Quiz 5"/>
          <p:cNvSpPr/>
          <p:nvPr/>
        </p:nvSpPr>
        <p:spPr>
          <a:xfrm>
            <a:off x="548640" y="3346704"/>
            <a:ext cx="5440680" cy="82296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Quiz num 5"/>
          <p:cNvSpPr/>
          <p:nvPr/>
        </p:nvSpPr>
        <p:spPr>
          <a:xfrm>
            <a:off x="713232" y="3502152"/>
            <a:ext cx="512064" cy="51206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3232" y="35021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417320" y="3346704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Name 3 of the 9 rules the planner never breaks</a:t>
            </a:r>
            <a:endParaRPr lang="en-US" sz="1600" dirty="0"/>
          </a:p>
        </p:txBody>
      </p:sp>
      <p:sp>
        <p:nvSpPr>
          <p:cNvPr id="23" name="Quiz 6"/>
          <p:cNvSpPr/>
          <p:nvPr/>
        </p:nvSpPr>
        <p:spPr>
          <a:xfrm>
            <a:off x="6172200" y="3346704"/>
            <a:ext cx="5440680" cy="82296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Quiz num 6"/>
          <p:cNvSpPr/>
          <p:nvPr/>
        </p:nvSpPr>
        <p:spPr>
          <a:xfrm>
            <a:off x="6336792" y="3502152"/>
            <a:ext cx="512064" cy="51206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336792" y="35021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7040880" y="3346704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Why does the fixed list leave patients without power?</a:t>
            </a:r>
            <a:endParaRPr lang="en-US" sz="1600" dirty="0"/>
          </a:p>
        </p:txBody>
      </p:sp>
      <p:sp>
        <p:nvSpPr>
          <p:cNvPr id="27" name="Quiz 7"/>
          <p:cNvSpPr/>
          <p:nvPr/>
        </p:nvSpPr>
        <p:spPr>
          <a:xfrm>
            <a:off x="548640" y="4334256"/>
            <a:ext cx="5440680" cy="82296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Quiz num 7"/>
          <p:cNvSpPr/>
          <p:nvPr/>
        </p:nvSpPr>
        <p:spPr>
          <a:xfrm>
            <a:off x="713232" y="4489704"/>
            <a:ext cx="512064" cy="51206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13232" y="448970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7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1417320" y="4334256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What does the pre-outage check find?</a:t>
            </a:r>
            <a:endParaRPr lang="en-US" sz="1600" dirty="0"/>
          </a:p>
        </p:txBody>
      </p:sp>
      <p:sp>
        <p:nvSpPr>
          <p:cNvPr id="31" name="Quiz 8"/>
          <p:cNvSpPr/>
          <p:nvPr/>
        </p:nvSpPr>
        <p:spPr>
          <a:xfrm>
            <a:off x="6172200" y="4334256"/>
            <a:ext cx="5440680" cy="82296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2" name="Quiz num 8"/>
          <p:cNvSpPr/>
          <p:nvPr/>
        </p:nvSpPr>
        <p:spPr>
          <a:xfrm>
            <a:off x="6336792" y="4489704"/>
            <a:ext cx="512064" cy="51206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336792" y="448970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8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7040880" y="4334256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What are our 3 headline numbers?</a:t>
            </a:r>
            <a:endParaRPr lang="en-US" sz="1600" dirty="0"/>
          </a:p>
        </p:txBody>
      </p:sp>
      <p:sp>
        <p:nvSpPr>
          <p:cNvPr id="35" name="Kid words box"/>
          <p:cNvSpPr/>
          <p:nvPr/>
        </p:nvSpPr>
        <p:spPr>
          <a:xfrm>
            <a:off x="548640" y="5532120"/>
            <a:ext cx="1106424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6" name="Kid words circle"/>
          <p:cNvSpPr/>
          <p:nvPr/>
        </p:nvSpPr>
        <p:spPr>
          <a:xfrm>
            <a:off x="685800" y="5605272"/>
            <a:ext cx="585216" cy="5852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37" name="Kid words icon" descr="Kid word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6252" y="5745724"/>
            <a:ext cx="304312" cy="304312"/>
          </a:xfrm>
          <a:prstGeom prst="rect">
            <a:avLst/>
          </a:prstGeom>
        </p:spPr>
      </p:pic>
      <p:sp>
        <p:nvSpPr>
          <p:cNvPr id="38" name="Text 35"/>
          <p:cNvSpPr txBox="1"/>
          <p:nvPr/>
        </p:nvSpPr>
        <p:spPr>
          <a:xfrm>
            <a:off x="1417320" y="55778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In kid words: </a:t>
            </a:r>
            <a:pPr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If every one of us can answer all 8 without looking, we really understand our project.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371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Power should reach the patient who can't wait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33756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Free, open-source, no new hardware · works from an Excel sheet · staff make the final call</a:t>
            </a:r>
            <a:endParaRPr lang="en-US" sz="2200" dirty="0"/>
          </a:p>
        </p:txBody>
      </p:sp>
      <p:pic>
        <p:nvPicPr>
          <p:cNvPr id="4" name="Image 0" descr="Hospit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822960"/>
            <a:ext cx="822960" cy="8229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Patient Power">
  <a:themeElements>
    <a:clrScheme name="Patient Power">
      <a:dk1>
        <a:srgbClr val="111827"/>
      </a:dk1>
      <a:lt1>
        <a:srgbClr val="FFFFFF"/>
      </a:lt1>
      <a:dk2>
        <a:srgbClr val="0F3D3E"/>
      </a:dk2>
      <a:lt2>
        <a:srgbClr val="EAF3F1"/>
      </a:lt2>
      <a:accent1>
        <a:srgbClr val="0F766E"/>
      </a:accent1>
      <a:accent2>
        <a:srgbClr val="F59E0B"/>
      </a:accent2>
      <a:accent3>
        <a:srgbClr val="DC2626"/>
      </a:accent3>
      <a:accent4>
        <a:srgbClr val="16A34A"/>
      </a:accent4>
      <a:accent5>
        <a:srgbClr val="2563EB"/>
      </a:accent5>
      <a:accent6>
        <a:srgbClr val="64748B"/>
      </a:accent6>
      <a:hlink>
        <a:srgbClr val="0F766E"/>
      </a:hlink>
      <a:folHlink>
        <a:srgbClr val="0F3D3E"/>
      </a:folHlink>
    </a:clrScheme>
    <a:fontScheme name="Patient Power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Patient-to-Power Triage</dc:title>
  <dc:subject>PptxGenJS Presentation</dc:subject>
  <dc:creator>Team Patient-to-Power</dc:creator>
  <cp:lastModifiedBy>Team Patient-to-Power</cp:lastModifiedBy>
  <cp:revision>1</cp:revision>
  <dcterms:created xsi:type="dcterms:W3CDTF">2026-10-25T20:21:15Z</dcterms:created>
  <dcterms:modified xsi:type="dcterms:W3CDTF">2026-10-25T20:21:15Z</dcterms:modified>
</cp:coreProperties>
</file>